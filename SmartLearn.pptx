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75AA7-F4F4-41C1-BEEF-E27B3F304C4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0533F-54F3-4F56-BB30-F90D2736006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for a university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8" b="31587"/>
          <a:stretch>
            <a:fillRect/>
          </a:stretch>
        </p:blipFill>
        <p:spPr>
          <a:xfrm>
            <a:off x="382173" y="180814"/>
            <a:ext cx="1911454" cy="1348251"/>
          </a:xfrm>
          <a:prstGeom prst="rect">
            <a:avLst/>
          </a:prstGeom>
        </p:spPr>
      </p:pic>
      <p:pic>
        <p:nvPicPr>
          <p:cNvPr id="7" name="Picture 6" descr="A logo of a light bulb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7" y="257014"/>
            <a:ext cx="942643" cy="1272051"/>
          </a:xfrm>
          <a:prstGeom prst="rect">
            <a:avLst/>
          </a:prstGeom>
        </p:spPr>
      </p:pic>
      <p:pic>
        <p:nvPicPr>
          <p:cNvPr id="9" name="Picture 8" descr="A logo with text on i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5" t="36032" r="6826" b="36825"/>
          <a:stretch>
            <a:fillRect/>
          </a:stretch>
        </p:blipFill>
        <p:spPr>
          <a:xfrm>
            <a:off x="4208500" y="257014"/>
            <a:ext cx="3774999" cy="12043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07602" y="1357958"/>
            <a:ext cx="8828314" cy="32134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200" dirty="0">
                <a:solidFill>
                  <a:schemeClr val="accent6"/>
                </a:solidFill>
              </a:rPr>
              <a:t>Ideation Competition 3.0</a:t>
            </a:r>
            <a:endParaRPr lang="en-IN" sz="4200" dirty="0">
              <a:solidFill>
                <a:schemeClr val="accent6"/>
              </a:solidFill>
            </a:endParaRPr>
          </a:p>
          <a:p>
            <a:pPr algn="ctr"/>
            <a:r>
              <a:rPr lang="en-IN" sz="4200" dirty="0">
                <a:solidFill>
                  <a:schemeClr val="accent6"/>
                </a:solidFill>
              </a:rPr>
              <a:t>Pre-Incubation Centre Activity</a:t>
            </a:r>
            <a:endParaRPr lang="en-IN" sz="4200" dirty="0">
              <a:solidFill>
                <a:schemeClr val="accent6"/>
              </a:solidFill>
            </a:endParaRPr>
          </a:p>
          <a:p>
            <a:pPr algn="ctr"/>
            <a:endParaRPr lang="en-IN" sz="4000" dirty="0">
              <a:solidFill>
                <a:schemeClr val="tx1"/>
              </a:solidFill>
            </a:endParaRPr>
          </a:p>
          <a:p>
            <a:pPr algn="ctr"/>
            <a:r>
              <a:rPr lang="en-IN" sz="3600" dirty="0">
                <a:solidFill>
                  <a:schemeClr val="tx1"/>
                </a:solidFill>
              </a:rPr>
              <a:t>College Level Competition</a:t>
            </a:r>
            <a:endParaRPr lang="en-IN" sz="3600" dirty="0">
              <a:solidFill>
                <a:schemeClr val="tx1"/>
              </a:solidFill>
            </a:endParaRPr>
          </a:p>
          <a:p>
            <a:pPr algn="ctr"/>
            <a:r>
              <a:rPr lang="en-IN" sz="3600" i="1" dirty="0">
                <a:solidFill>
                  <a:schemeClr val="tx1"/>
                </a:solidFill>
              </a:rPr>
              <a:t>“</a:t>
            </a:r>
            <a:r>
              <a:rPr lang="en-GB" altLang="en-IN" sz="3600" i="1" dirty="0">
                <a:solidFill>
                  <a:schemeClr val="tx1"/>
                </a:solidFill>
              </a:rPr>
              <a:t>Nagpur Institute of Technology</a:t>
            </a:r>
            <a:r>
              <a:rPr lang="en-IN" sz="3600" i="1" dirty="0">
                <a:solidFill>
                  <a:schemeClr val="tx1"/>
                </a:solidFill>
              </a:rPr>
              <a:t>”</a:t>
            </a:r>
            <a:endParaRPr lang="en-IN" sz="3600" i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8700" y="4922860"/>
            <a:ext cx="81946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Team Members: 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                </a:t>
            </a:r>
            <a:r>
              <a:rPr lang="en-GB" altLang="en-IN" b="1" dirty="0"/>
              <a:t>Tejal Kawale </a:t>
            </a:r>
            <a:r>
              <a:rPr lang="en-IN" b="1" dirty="0"/>
              <a:t>                                    </a:t>
            </a:r>
            <a:r>
              <a:rPr lang="en-GB" altLang="en-IN" b="1" dirty="0"/>
              <a:t>        Tejal Tijare</a:t>
            </a:r>
            <a:r>
              <a:rPr lang="en-IN" b="1" dirty="0"/>
              <a:t>        </a:t>
            </a:r>
            <a:endParaRPr lang="en-IN" b="1" dirty="0"/>
          </a:p>
          <a:p>
            <a:endParaRPr lang="en-IN" b="1" dirty="0"/>
          </a:p>
          <a:p>
            <a:pPr algn="just"/>
            <a:r>
              <a:rPr lang="en-IN" b="1" dirty="0"/>
              <a:t>                </a:t>
            </a:r>
            <a:r>
              <a:rPr lang="en-GB" altLang="en-IN" b="1" dirty="0"/>
              <a:t>Vaishnavi ughade</a:t>
            </a:r>
            <a:r>
              <a:rPr lang="en-IN" b="1" dirty="0"/>
              <a:t>                         </a:t>
            </a:r>
            <a:r>
              <a:rPr lang="en-GB" altLang="en-IN" b="1" dirty="0"/>
              <a:t>           </a:t>
            </a:r>
            <a:r>
              <a:rPr lang="en-IN" b="1" dirty="0"/>
              <a:t> </a:t>
            </a:r>
            <a:r>
              <a:rPr lang="en-GB" altLang="en-IN" b="1" dirty="0"/>
              <a:t>Shreya Kohad</a:t>
            </a:r>
            <a:endParaRPr lang="en-GB" alt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1 – Define the Problem Statement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71830" y="864235"/>
            <a:ext cx="10201910" cy="5369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Traditional learning methods are generic and do not adapt to individual student needs, making it difficult for students to learn effectively.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Most digital learning platforms rely heavily on video-based content, which promotes passive learning and reduces engagement.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Students lack access to interactive, self-paced study material that strengthens concept understanding and improves knowledge retention.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Many existing platforms are paid or subscription-based, limiting access for students from diverse backgrounds.</a:t>
            </a: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/>
              <a:t>There is insufficient focus on concept clarity and active learning, leading to gaps in knowledge despite spending time on studies.</a:t>
            </a:r>
            <a:endParaRPr lang="en-US" altLang="en-GB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2 – Solution Provided by Innovation Team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14400" y="1172210"/>
            <a:ext cx="1064514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Personalized Learning:</a:t>
            </a:r>
            <a:r>
              <a:rPr lang="en-US" altLang="en-GB" sz="2400">
                <a:solidFill>
                  <a:schemeClr val="tx1"/>
                </a:solidFill>
              </a:rPr>
              <a:t> SmartLearn provides structured content that adapts to each student’s pace and learning needs.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Interactive Content:</a:t>
            </a:r>
            <a:r>
              <a:rPr lang="en-US" altLang="en-GB" sz="2400">
                <a:solidFill>
                  <a:schemeClr val="tx1"/>
                </a:solidFill>
              </a:rPr>
              <a:t> Replaces passive videos with exercises and modules that actively engage students.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Self-Paced Study:</a:t>
            </a:r>
            <a:r>
              <a:rPr lang="en-US" altLang="en-GB" sz="2400">
                <a:solidFill>
                  <a:schemeClr val="tx1"/>
                </a:solidFill>
              </a:rPr>
              <a:t> Allows students to learn at their own speed, reinforcing concept clarity and retention.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Accessible Platform:</a:t>
            </a:r>
            <a:r>
              <a:rPr lang="en-US" altLang="en-GB" sz="2400">
                <a:solidFill>
                  <a:schemeClr val="tx1"/>
                </a:solidFill>
              </a:rPr>
              <a:t> Freely available or low-cost, making learning accessible to a wide range of students.</a:t>
            </a: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 b="1">
                <a:solidFill>
                  <a:schemeClr val="tx1"/>
                </a:solidFill>
              </a:rPr>
              <a:t>Concept-Focused Learning:</a:t>
            </a:r>
            <a:r>
              <a:rPr lang="en-US" altLang="en-GB" sz="2400">
                <a:solidFill>
                  <a:schemeClr val="tx1"/>
                </a:solidFill>
              </a:rPr>
              <a:t> Emphasizes understanding and application of concepts rather than rote memorization.</a:t>
            </a:r>
            <a:endParaRPr lang="en-US" altLang="en-GB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3 – Competitive Analysis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9615" y="1136650"/>
            <a:ext cx="10956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4075" y="1136650"/>
          <a:ext cx="11026775" cy="4685665"/>
        </p:xfrm>
        <a:graphic>
          <a:graphicData uri="http://schemas.openxmlformats.org/drawingml/2006/table">
            <a:tbl>
              <a:tblPr/>
              <a:tblGrid>
                <a:gridCol w="2205355"/>
                <a:gridCol w="2205355"/>
                <a:gridCol w="2205355"/>
                <a:gridCol w="2205355"/>
                <a:gridCol w="2205355"/>
              </a:tblGrid>
              <a:tr h="531495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3930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63625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63625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62990"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1044575" y="857885"/>
          <a:ext cx="10345420" cy="583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015"/>
                <a:gridCol w="3153410"/>
                <a:gridCol w="2612390"/>
                <a:gridCol w="2808605"/>
              </a:tblGrid>
              <a:tr h="12534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Platform</a:t>
                      </a: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features</a:t>
                      </a: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Weakness</a:t>
                      </a: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/>
                        <a:t>Smartlearn</a:t>
                      </a:r>
                      <a:endParaRPr lang="en-GB" altLang="en-US"/>
                    </a:p>
                    <a:p>
                      <a:pPr algn="ctr">
                        <a:buNone/>
                      </a:pPr>
                      <a:r>
                        <a:rPr lang="en-GB" altLang="en-US"/>
                        <a:t>and </a:t>
                      </a:r>
                      <a:endParaRPr lang="en-GB" altLang="en-US"/>
                    </a:p>
                    <a:p>
                      <a:pPr algn="ctr">
                        <a:buNone/>
                      </a:pPr>
                      <a:r>
                        <a:rPr lang="en-GB" altLang="en-US"/>
                        <a:t>it’s advantage</a:t>
                      </a:r>
                      <a:endParaRPr lang="en-GB" altLang="en-US"/>
                    </a:p>
                  </a:txBody>
                  <a:tcPr anchor="t" anchorCtr="0"/>
                </a:tc>
              </a:tr>
              <a:tr h="12534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Khan Academy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Video lessons, exercises, quizzes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Generic content, passive learning, limited interactivity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Provides interactive content, promotes active learning rather than passive video watching</a:t>
                      </a:r>
                      <a:endParaRPr lang="en-US" altLang="en-GB"/>
                    </a:p>
                  </a:txBody>
                  <a:tcPr anchor="t" anchorCtr="0"/>
                </a:tc>
              </a:tr>
              <a:tr h="965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Byju’s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Video lectures, exercises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GB" sz="1800"/>
                        <a:t>Paid, mostly passive learning</a:t>
                      </a:r>
                      <a:endParaRPr lang="en-US" altLang="en-GB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Self-paced, interactive content without relying on videos</a:t>
                      </a:r>
                      <a:endParaRPr lang="en-US" altLang="en-GB"/>
                    </a:p>
                  </a:txBody>
                  <a:tcPr anchor="ctr" anchorCtr="0"/>
                </a:tc>
              </a:tr>
              <a:tr h="11734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Toppr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Study material, tests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Paid plans, limited flexibility</a:t>
                      </a:r>
                      <a:endParaRPr lang="en-US" altLang="en-GB" sz="1800"/>
                    </a:p>
                    <a:p>
                      <a:pPr algn="ctr">
                        <a:buNone/>
                      </a:pPr>
                      <a:endParaRPr lang="en-GB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GB" sz="1800"/>
                        <a:t>Flexible, interactive content that strengthens understanding</a:t>
                      </a:r>
                      <a:endParaRPr lang="en-US" altLang="en-GB" sz="1800"/>
                    </a:p>
                  </a:txBody>
                  <a:tcPr marL="0" marR="0" marT="0" marB="0" anchor="ctr" anchorCtr="0"/>
                </a:tc>
              </a:tr>
              <a:tr h="964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Udemy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Online courses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Not school/college-level, mostly video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Focused on school/college learning, interactive and engaging content</a:t>
                      </a:r>
                      <a:endParaRPr lang="en-US" altLang="en-GB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4 – Total Addressable Market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8885" y="975995"/>
            <a:ext cx="9835515" cy="5643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GB" sz="2400" b="1"/>
              <a:t>Target Users</a:t>
            </a:r>
            <a:r>
              <a:rPr lang="en-GB" altLang="en-US" sz="2400" b="1"/>
              <a:t> : </a:t>
            </a:r>
            <a:r>
              <a:rPr lang="en-US" altLang="en-GB" sz="2400"/>
              <a:t> School and college students who use digital learning platforms.</a:t>
            </a:r>
            <a:endParaRPr lang="en-US" altLang="en-GB" sz="2400"/>
          </a:p>
          <a:p>
            <a:pPr algn="just"/>
            <a:endParaRPr lang="en-US" altLang="en-GB" sz="2400" b="1"/>
          </a:p>
          <a:p>
            <a:pPr algn="just"/>
            <a:r>
              <a:rPr lang="en-US" altLang="en-GB" sz="2400" b="1"/>
              <a:t>Market Size</a:t>
            </a:r>
            <a:r>
              <a:rPr lang="en-GB" altLang="en-US" sz="2400" b="1"/>
              <a:t> :  </a:t>
            </a:r>
            <a:endParaRPr lang="en-GB" altLang="en-US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~300 million students in India (school + college).</a:t>
            </a:r>
            <a:endParaRPr lang="en-US" altLang="en-GB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Increasing adoption of e-learning and online study resources.</a:t>
            </a:r>
            <a:endParaRPr lang="en-US" altLang="en-GB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GB" sz="2400"/>
          </a:p>
          <a:p>
            <a:pPr indent="0" algn="just">
              <a:buNone/>
            </a:pPr>
            <a:r>
              <a:rPr lang="en-US" altLang="en-GB" sz="2400" b="1"/>
              <a:t>Global Market</a:t>
            </a:r>
            <a:r>
              <a:rPr lang="en-GB" altLang="en-US" sz="2400" b="1"/>
              <a:t> : </a:t>
            </a:r>
            <a:endParaRPr lang="en-GB" altLang="en-US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E-learning market expected to reach $500+ billion by 2026</a:t>
            </a:r>
            <a:r>
              <a:rPr lang="en-US" altLang="en-GB" sz="2400" b="1"/>
              <a:t>.</a:t>
            </a:r>
            <a:endParaRPr lang="en-US" altLang="en-GB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2400"/>
              <a:t>Huge growth in digital learning platforms and personalized education tools</a:t>
            </a:r>
            <a:r>
              <a:rPr lang="en-US" altLang="en-GB" sz="2400" b="1"/>
              <a:t>.</a:t>
            </a:r>
            <a:endParaRPr lang="en-US" altLang="en-GB" sz="24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GB" sz="2400" b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GB" sz="2400"/>
              <a:t>There is a large and growing demand for interactive, adaptive learning solutions that go beyond video lectures, which is where SmartLearn fits in.</a:t>
            </a:r>
            <a:endParaRPr lang="en-US" altLang="en-GB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5 – Plan for Scaling-up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03325" y="664210"/>
            <a:ext cx="10494645" cy="5838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/>
              <a:t>Content Expansion: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Add more  interactive modules for school and college levels.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Include exercises, quizzes, and concept-based learning tools.</a:t>
            </a: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endParaRPr lang="en-US" altLang="en-GB" sz="2400" b="1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400" b="1"/>
              <a:t>Platform Improvements: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Enhance user interface and make it more engaging.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Ensure smooth mobile and tablet access for students on the go.</a:t>
            </a: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400" b="1"/>
              <a:t>Personalization &amp; Analytics: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Introduce basic adaptive learning features (recommend content based on student interaction).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Track usage patterns to improve content quality and engagement.</a:t>
            </a: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endParaRPr lang="en-US" altLang="en-GB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400" b="1"/>
              <a:t>Monetization &amp; Partnerships:</a:t>
            </a:r>
            <a:endParaRPr lang="en-US" altLang="en-GB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/>
              <a:t>Partner with educational content creators or institutions for wider reach.</a:t>
            </a:r>
            <a:endParaRPr lang="en-US" altLang="en-GB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6 – Team Composition</a:t>
            </a:r>
            <a:endParaRPr lang="en-IN" sz="24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10260" y="986155"/>
          <a:ext cx="10567670" cy="46120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937000"/>
                <a:gridCol w="3108325"/>
                <a:gridCol w="3522345"/>
              </a:tblGrid>
              <a:tr h="544195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Program and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Participating Role</a:t>
                      </a:r>
                      <a:endParaRPr lang="en-IN" dirty="0"/>
                    </a:p>
                  </a:txBody>
                  <a:tcPr/>
                </a:tc>
              </a:tr>
              <a:tr h="766445">
                <a:tc>
                  <a:txBody>
                    <a:bodyPr/>
                    <a:lstStyle/>
                    <a:p>
                      <a:r>
                        <a:rPr lang="en-GB" altLang="en-IN" sz="2400"/>
                        <a:t>Tejal Kawale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altLang="en-IN" dirty="0"/>
                        <a:t>Computer Science and Engineering  4 year</a:t>
                      </a:r>
                      <a:endParaRPr lang="en-GB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/>
                        <a:t>Project Lead and Project Developer</a:t>
                      </a:r>
                      <a:endParaRPr lang="en-GB" altLang="en-IN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GB" altLang="en-IN" sz="2400"/>
                        <a:t>Tejal Tijare 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sz="1800" dirty="0">
                          <a:sym typeface="+mn-ea"/>
                        </a:rPr>
                        <a:t>Computer Science and Engineering  4 year</a:t>
                      </a:r>
                      <a:endParaRPr lang="en-GB" altLang="en-IN" sz="1800" dirty="0"/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/>
                        <a:t>Database Developer</a:t>
                      </a:r>
                      <a:endParaRPr lang="en-GB" altLang="en-IN"/>
                    </a:p>
                  </a:txBody>
                  <a:tcPr/>
                </a:tc>
              </a:tr>
              <a:tr h="928370">
                <a:tc>
                  <a:txBody>
                    <a:bodyPr/>
                    <a:lstStyle/>
                    <a:p>
                      <a:r>
                        <a:rPr lang="en-GB" altLang="en-IN" sz="2400"/>
                        <a:t>Vaishnavi Ughade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sz="1800" dirty="0">
                          <a:sym typeface="+mn-ea"/>
                        </a:rPr>
                        <a:t>Computer Science and Engineering  4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dirty="0"/>
                        <a:t>Backend Developer</a:t>
                      </a:r>
                      <a:endParaRPr lang="en-GB" altLang="en-IN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GB" altLang="en-IN" sz="2400"/>
                        <a:t>Shreya Kohad</a:t>
                      </a:r>
                      <a:endParaRPr lang="en-GB" alt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sz="1800" dirty="0">
                          <a:sym typeface="+mn-ea"/>
                        </a:rPr>
                        <a:t>Computer Science and Engineering  4 year</a:t>
                      </a:r>
                      <a:endParaRPr lang="en-GB" altLang="en-IN" sz="1800" dirty="0"/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en-IN" dirty="0"/>
                        <a:t>UI UX Developer </a:t>
                      </a:r>
                      <a:endParaRPr lang="en-GB" altLang="en-IN" dirty="0"/>
                    </a:p>
                  </a:txBody>
                  <a:tcPr/>
                </a:tc>
              </a:tr>
              <a:tr h="54419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9889" y="5687451"/>
            <a:ext cx="69846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of Mentor (If any):</a:t>
            </a:r>
            <a:r>
              <a:rPr lang="en-GB" altLang="en-IN" dirty="0"/>
              <a:t> Dr. Shrikant Zade</a:t>
            </a:r>
            <a:endParaRPr lang="en-I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8*368"/>
  <p:tag name="TABLE_ENDDRAG_RECT" val="67*89*868*368"/>
</p:tagLst>
</file>

<file path=ppt/tags/tag2.xml><?xml version="1.0" encoding="utf-8"?>
<p:tagLst xmlns:p="http://schemas.openxmlformats.org/presentationml/2006/main">
  <p:tag name="TABLE_ENDDRAG_ORIGIN_RECT" val="814*419"/>
  <p:tag name="TABLE_ENDDRAG_RECT" val="82*67*814*419"/>
</p:tagLst>
</file>

<file path=ppt/tags/tag3.xml><?xml version="1.0" encoding="utf-8"?>
<p:tagLst xmlns:p="http://schemas.openxmlformats.org/presentationml/2006/main">
  <p:tag name="TABLE_ENDDRAG_ORIGIN_RECT" val="832*337"/>
  <p:tag name="TABLE_ENDDRAG_RECT" val="63*77*832*3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3716</Words>
  <Application>WPS Presentation</Application>
  <PresentationFormat>Widescreen</PresentationFormat>
  <Paragraphs>148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Barahate</dc:creator>
  <cp:lastModifiedBy>13 FY - ARTS A - Bhumika Paray</cp:lastModifiedBy>
  <cp:revision>10</cp:revision>
  <dcterms:created xsi:type="dcterms:W3CDTF">2024-11-09T10:09:00Z</dcterms:created>
  <dcterms:modified xsi:type="dcterms:W3CDTF">2025-11-07T10:16:50Z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A8BAF466C9554D9FA8E34008658B7B14_13</vt:lpwstr>
  </property>
  <property fmtid="{D5CDD505-2E9C-101B-9397-08002B2CF9AE}" pid="3" name="KSOProductBuildVer">
    <vt:lpwstr>2057-12.2.0.23131</vt:lpwstr>
  </property>
</Properties>
</file>