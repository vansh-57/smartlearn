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5" r:id="rId7"/>
    <p:sldId id="266" r:id="rId8"/>
    <p:sldId id="272" r:id="rId9"/>
    <p:sldId id="268" r:id="rId10"/>
    <p:sldId id="273" r:id="rId11"/>
    <p:sldId id="267" r:id="rId12"/>
    <p:sldId id="269" r:id="rId13"/>
    <p:sldId id="270" r:id="rId14"/>
    <p:sldId id="264" r:id="rId15"/>
  </p:sldIdLst>
  <p:sldSz cx="9144000" cy="6858000" type="screen4x3"/>
  <p:notesSz cx="6858000" cy="9144000"/>
  <p:embeddedFontLst>
    <p:embeddedFont>
      <p:font typeface="Calibri" panose="020F0502020204030204"/>
      <p:regular r:id="rId19"/>
    </p:embeddedFont>
    <p:embeddedFont>
      <p:font typeface="Arial Black" panose="020B0A04020102020204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29" userDrawn="1">
          <p15:clr>
            <a:srgbClr val="A4A3A4"/>
          </p15:clr>
        </p15:guide>
        <p15:guide id="2" pos="2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1258" y="67"/>
      </p:cViewPr>
      <p:guideLst>
        <p:guide orient="horz" pos="2129"/>
        <p:guide pos="28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0" name="Google Shape;1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 panose="020F050202020403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 panose="020F050202020403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1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4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2" name="Google Shape;42;p15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5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4" name="Google Shape;44;p15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0" name="Google Shape;60;p18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1" name="Google Shape;61;p1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9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8" name="Google Shape;68;p1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2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 panose="020F0502020204030204"/>
              <a:buNone/>
              <a:defRPr sz="3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nit.edu.in/computer-science-engineering/" TargetMode="Externa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nit.edu.in/computer-science-engineering/" TargetMode="Externa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nit.edu.in/computer-science-engineering/" TargetMode="Externa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nit.edu.in/computer-science-engineering/" TargetMode="Externa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nit.edu.in/computer-science-engineering/" TargetMode="Externa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hyperlink" Target="https://nit.edu.in/computer-science-engineering/" TargetMode="Externa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nit.edu.in/computer-science-engineering/" TargetMode="Externa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nit.edu.in/computer-science-engineering/" TargetMode="Externa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nit.edu.in/computer-science-engineering/" TargetMode="Externa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nit.edu.in/computer-science-engineering/" TargetMode="Externa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nit.edu.in/computer-science-engineering/" TargetMode="Externa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" descr="NIT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 descr="Shri Sai Shikshan Sanstha log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Shri Sai Shikshan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Survey No.13/2, Mahurzari, Near Fetri, Katol Road, Nagpur-441501</a:t>
            </a:r>
            <a:endParaRPr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CSE, NIT, Nagpur</a:t>
            </a:r>
            <a:endParaRPr lang="en-US"/>
          </a:p>
        </p:txBody>
      </p:sp>
      <p:sp>
        <p:nvSpPr>
          <p:cNvPr id="92" name="Google Shape;92;p1"/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3"/>
              </a:rPr>
              <a:t>https://nit.edu.in/computer-science-engineering/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3" name="Google Shape;93;p1"/>
          <p:cNvSpPr txBox="1">
            <a:spLocks noGrp="1"/>
          </p:cNvSpPr>
          <p:nvPr>
            <p:ph type="subTitle" idx="4294967295"/>
          </p:nvPr>
        </p:nvSpPr>
        <p:spPr>
          <a:xfrm>
            <a:off x="792162" y="1400575"/>
            <a:ext cx="7788275" cy="4748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5100" rIns="91425" bIns="45700" anchor="ctr" anchorCtr="0">
            <a:normAutofit fontScale="85000" lnSpcReduction="1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Department of Computer Science and Engineering</a:t>
            </a:r>
            <a:endParaRPr sz="4000" dirty="0"/>
          </a:p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endParaRPr sz="4400" b="1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Project Progress Seminar – </a:t>
            </a:r>
            <a:r>
              <a:rPr lang="en-GB" altLang="en-US" sz="4000" b="1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r>
            <a:r>
              <a:rPr lang="en-US" sz="4000" b="1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 </a:t>
            </a:r>
            <a:r>
              <a:rPr lang="en-US" sz="4000" b="1" dirty="0"/>
              <a:t>o</a:t>
            </a:r>
            <a:r>
              <a:rPr lang="en-US" sz="4000" b="1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</a:t>
            </a:r>
            <a:endParaRPr sz="4000" dirty="0"/>
          </a:p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US" sz="3700" b="1" dirty="0"/>
              <a:t>SmartLearn</a:t>
            </a:r>
            <a:endParaRPr sz="3700" b="1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endParaRPr sz="37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5250" indent="0">
              <a:buNone/>
            </a:pPr>
            <a:r>
              <a:rPr lang="en-US" sz="2400" b="1" i="0" u="sng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Presented By</a:t>
            </a:r>
            <a:r>
              <a:rPr lang="en-US" sz="2400" b="1" u="sng" dirty="0"/>
              <a:t> </a:t>
            </a:r>
            <a:r>
              <a:rPr lang="en-US" sz="2400" b="1" dirty="0"/>
              <a:t>: - </a:t>
            </a:r>
            <a:r>
              <a:rPr lang="en-US" sz="2400" dirty="0"/>
              <a:t>Tejal Kawale</a:t>
            </a:r>
            <a:endParaRPr lang="en-US" sz="2400" dirty="0"/>
          </a:p>
          <a:p>
            <a:pPr marL="95250" indent="0">
              <a:buNone/>
            </a:pPr>
            <a:r>
              <a:rPr lang="en-US" sz="2400" dirty="0"/>
              <a:t>                              Shreya Kohad</a:t>
            </a:r>
            <a:endParaRPr lang="en-US" sz="2400" dirty="0"/>
          </a:p>
          <a:p>
            <a:pPr marL="95250" indent="0">
              <a:buNone/>
            </a:pPr>
            <a:r>
              <a:rPr lang="en-US" sz="2400" dirty="0"/>
              <a:t>                              Shravani Dudhbade</a:t>
            </a:r>
            <a:endParaRPr lang="en-US" sz="2400" dirty="0"/>
          </a:p>
          <a:p>
            <a:pPr marL="95250" indent="0">
              <a:buNone/>
            </a:pPr>
            <a:r>
              <a:rPr lang="en-US" sz="2400" dirty="0"/>
              <a:t>                              Vaishnavi Ughade</a:t>
            </a:r>
            <a:endParaRPr lang="en-US" sz="2400" dirty="0"/>
          </a:p>
          <a:p>
            <a:pPr marL="95250" indent="0">
              <a:buNone/>
            </a:pPr>
            <a:r>
              <a:rPr lang="en-US" sz="2400" dirty="0"/>
              <a:t>                              Tejal Tijare</a:t>
            </a:r>
            <a:endParaRPr sz="2400" b="1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" descr="NIT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 descr="Shri Sai Shikshan Sanstha log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Shri Sai Shikshan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Survey No.13/2, Mahurzari, Near Fetri, Katol Road, Nagpur-441501</a:t>
            </a:r>
            <a:endParaRPr dirty="0"/>
          </a:p>
        </p:txBody>
      </p:sp>
      <p:sp>
        <p:nvSpPr>
          <p:cNvPr id="102" name="Google Shape;102;p2"/>
          <p:cNvSpPr txBox="1"/>
          <p:nvPr/>
        </p:nvSpPr>
        <p:spPr>
          <a:xfrm>
            <a:off x="725488" y="1125428"/>
            <a:ext cx="7199312" cy="64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2675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 panose="020F0502020204030204"/>
              <a:buNone/>
            </a:pPr>
            <a:r>
              <a:rPr lang="en-US" sz="3300" b="1" u="sng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INDEX</a:t>
            </a:r>
            <a:endParaRPr u="sng" dirty="0"/>
          </a:p>
        </p:txBody>
      </p:sp>
      <p:sp>
        <p:nvSpPr>
          <p:cNvPr id="103" name="Google Shape;103;p2"/>
          <p:cNvSpPr txBox="1"/>
          <p:nvPr/>
        </p:nvSpPr>
        <p:spPr>
          <a:xfrm>
            <a:off x="537105" y="1719580"/>
            <a:ext cx="8005762" cy="45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 fontScale="25000" lnSpcReduction="20000"/>
          </a:bodyPr>
          <a:lstStyle/>
          <a:p>
            <a:pPr marL="450850" marR="0" lvl="0" indent="-3429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Arial" panose="020B0604020202020204"/>
              <a:buChar char="•"/>
            </a:pPr>
            <a:r>
              <a:rPr lang="en-IN" sz="72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Problem Definition</a:t>
            </a:r>
            <a:r>
              <a:rPr lang="en-GB" altLang="en-IN" sz="72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 and </a:t>
            </a:r>
            <a:r>
              <a:rPr lang="en-IN" sz="72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Aim &amp; Objectives</a:t>
            </a:r>
            <a:endParaRPr lang="en-IN" sz="7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0850" marR="0" lvl="0" indent="-342900" rtl="0">
              <a:lnSpc>
                <a:spcPct val="110000"/>
              </a:lnSpc>
              <a:spcBef>
                <a:spcPts val="2165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Arial" panose="020B0604020202020204"/>
              <a:buChar char="•"/>
            </a:pPr>
            <a:r>
              <a:rPr lang="en-GB" altLang="en-IN" sz="7200" dirty="0"/>
              <a:t>Brief Recap of Work(Seminar - 1) </a:t>
            </a:r>
            <a:endParaRPr lang="en-IN" sz="7200" dirty="0"/>
          </a:p>
          <a:p>
            <a:pPr marL="450850" marR="0" lvl="0" indent="-342900" rtl="0">
              <a:lnSpc>
                <a:spcPct val="110000"/>
              </a:lnSpc>
              <a:spcBef>
                <a:spcPts val="2165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Arial" panose="020B0604020202020204"/>
              <a:buChar char="•"/>
            </a:pPr>
            <a:r>
              <a:rPr lang="en-GB" sz="7200" dirty="0"/>
              <a:t>Current progress</a:t>
            </a:r>
            <a:endParaRPr sz="7200" dirty="0"/>
          </a:p>
          <a:p>
            <a:pPr marL="450850" marR="0" lvl="0" indent="-342900" rtl="0">
              <a:lnSpc>
                <a:spcPct val="110000"/>
              </a:lnSpc>
              <a:spcBef>
                <a:spcPts val="2165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Arial" panose="020B0604020202020204"/>
              <a:buChar char="•"/>
            </a:pPr>
            <a:r>
              <a:rPr lang="en-GB" sz="7200" dirty="0"/>
              <a:t>System Design and Screenshots</a:t>
            </a:r>
            <a:endParaRPr sz="7200" dirty="0"/>
          </a:p>
          <a:p>
            <a:pPr marL="450850" marR="0" lvl="0" indent="-342900" rtl="0">
              <a:lnSpc>
                <a:spcPct val="110000"/>
              </a:lnSpc>
              <a:spcBef>
                <a:spcPts val="2165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Arial" panose="020B0604020202020204"/>
              <a:buChar char="•"/>
            </a:pPr>
            <a:r>
              <a:rPr lang="en-GB" sz="7200" dirty="0"/>
              <a:t>Testing and Result</a:t>
            </a:r>
            <a:endParaRPr sz="7200" dirty="0"/>
          </a:p>
          <a:p>
            <a:pPr marL="450850" marR="0" lvl="0" indent="-342900" rtl="0">
              <a:lnSpc>
                <a:spcPct val="110000"/>
              </a:lnSpc>
              <a:spcBef>
                <a:spcPts val="2165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Arial" panose="020B0604020202020204" pitchFamily="34" charset="0"/>
              <a:buChar char="•"/>
            </a:pPr>
            <a:r>
              <a:rPr lang="en-GB" altLang="en-US" sz="72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Challenges faced and Solutions implemented </a:t>
            </a:r>
            <a:endParaRPr lang="en-US" sz="72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450850" marR="0" lvl="0" indent="-342900" rtl="0">
              <a:lnSpc>
                <a:spcPct val="110000"/>
              </a:lnSpc>
              <a:spcBef>
                <a:spcPts val="2165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Arial" panose="020B0604020202020204" pitchFamily="34" charset="0"/>
              <a:buChar char="•"/>
            </a:pPr>
            <a:r>
              <a:rPr lang="en-GB" altLang="en-US" sz="72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Remaining Work </a:t>
            </a:r>
            <a:endParaRPr lang="en-US" sz="72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450850" marR="0" lvl="0" indent="-342900" rtl="0">
              <a:lnSpc>
                <a:spcPct val="110000"/>
              </a:lnSpc>
              <a:spcBef>
                <a:spcPts val="2165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Arial" panose="020B0604020202020204" pitchFamily="34" charset="0"/>
              <a:buChar char="•"/>
            </a:pPr>
            <a:r>
              <a:rPr lang="en-GB" altLang="en-US" sz="72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Budget Utilization  and Resource requirements </a:t>
            </a:r>
            <a:endParaRPr lang="en-US" sz="72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450850" marR="0" lvl="0" indent="-342900" rtl="0">
              <a:lnSpc>
                <a:spcPct val="110000"/>
              </a:lnSpc>
              <a:spcBef>
                <a:spcPts val="2165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Arial" panose="020B0604020202020204" pitchFamily="34" charset="0"/>
              <a:buChar char="•"/>
            </a:pPr>
            <a:r>
              <a:rPr lang="en-GB" altLang="en-US" sz="72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Conclusion and Future scope </a:t>
            </a:r>
            <a:endParaRPr lang="en-US" sz="72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450850" marR="0" lvl="0" indent="-342900" rtl="0">
              <a:lnSpc>
                <a:spcPct val="110000"/>
              </a:lnSpc>
              <a:spcBef>
                <a:spcPts val="2165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0850" marR="0" lvl="0" indent="-342900" rtl="0">
              <a:lnSpc>
                <a:spcPct val="110000"/>
              </a:lnSpc>
              <a:spcBef>
                <a:spcPts val="2165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0850" marR="0" lvl="0" indent="-342900" rtl="0">
              <a:lnSpc>
                <a:spcPct val="110000"/>
              </a:lnSpc>
              <a:spcBef>
                <a:spcPts val="2165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0850" marR="0" lvl="0" indent="-342900" algn="l" rtl="0">
              <a:lnSpc>
                <a:spcPct val="110000"/>
              </a:lnSpc>
              <a:spcBef>
                <a:spcPts val="2165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 panose="020B0604020202020204" pitchFamily="34" charset="0"/>
              <a:buChar char="•"/>
            </a:pPr>
            <a:endParaRPr sz="24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Google Shape;104;p2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CSE, NIT, Nagpur</a:t>
            </a:r>
            <a:endParaRPr lang="en-US"/>
          </a:p>
        </p:txBody>
      </p:sp>
      <p:sp>
        <p:nvSpPr>
          <p:cNvPr id="105" name="Google Shape;105;p2"/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3"/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Shri Sai Shikshan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Survey No.13/2, Mahurzari, Near Fetri, Katol Road, Nagpur-441501</a:t>
            </a:r>
            <a:endParaRPr dirty="0"/>
          </a:p>
        </p:txBody>
      </p:sp>
      <p:sp>
        <p:nvSpPr>
          <p:cNvPr id="114" name="Google Shape;114;p3"/>
          <p:cNvSpPr txBox="1"/>
          <p:nvPr/>
        </p:nvSpPr>
        <p:spPr>
          <a:xfrm>
            <a:off x="533400" y="1056420"/>
            <a:ext cx="7199312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2675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5"/>
              <a:buFont typeface="Calibri" panose="020F0502020204030204"/>
              <a:buNone/>
            </a:pPr>
            <a:r>
              <a:rPr lang="en-IN" sz="2700" b="1" u="sng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Problem Definition</a:t>
            </a:r>
            <a:endParaRPr sz="2700" b="1" u="sng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/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3"/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232410" y="1468120"/>
            <a:ext cx="85185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8" indent="-285750" algn="just">
              <a:lnSpc>
                <a:spcPct val="200000"/>
              </a:lnSpc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</a:rPr>
              <a:t>Traditional studying is boring and reduces focus.</a:t>
            </a:r>
            <a:endParaRPr lang="en-US" altLang="en-GB" sz="1800" dirty="0">
              <a:solidFill>
                <a:schemeClr val="dk1"/>
              </a:solidFill>
            </a:endParaRPr>
          </a:p>
          <a:p>
            <a:pPr marL="285750" lvl="8" indent="-285750" algn="just">
              <a:lnSpc>
                <a:spcPct val="200000"/>
              </a:lnSpc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</a:rPr>
              <a:t>Students struggle to retain information effectively.</a:t>
            </a:r>
            <a:endParaRPr lang="en-US" altLang="en-GB" sz="1800" dirty="0">
              <a:solidFill>
                <a:schemeClr val="dk1"/>
              </a:solidFill>
            </a:endParaRPr>
          </a:p>
          <a:p>
            <a:pPr marL="0" lvl="8" indent="0" algn="just">
              <a:lnSpc>
                <a:spcPct val="200000"/>
              </a:lnSpc>
              <a:buClr>
                <a:schemeClr val="dk1"/>
              </a:buClr>
              <a:buSzPts val="3200"/>
              <a:buFont typeface="Arial" panose="020B0604020202020204" pitchFamily="34" charset="0"/>
              <a:buNone/>
            </a:pPr>
            <a:r>
              <a:rPr lang="en-GB" altLang="en-IN" sz="2700" b="1" dirty="0">
                <a:solidFill>
                  <a:schemeClr val="dk1"/>
                </a:solidFill>
              </a:rPr>
              <a:t>   </a:t>
            </a:r>
            <a:r>
              <a:rPr lang="en-GB" altLang="en-IN" sz="2700" b="1" u="sng" dirty="0">
                <a:solidFill>
                  <a:schemeClr val="dk1"/>
                </a:solidFill>
              </a:rPr>
              <a:t>Aim</a:t>
            </a:r>
            <a:endParaRPr lang="en-GB" altLang="en-IN" sz="2700" b="1" dirty="0">
              <a:solidFill>
                <a:schemeClr val="dk1"/>
              </a:solidFill>
            </a:endParaRPr>
          </a:p>
          <a:p>
            <a:pPr marL="285750" lvl="8" indent="-285750" algn="just">
              <a:lnSpc>
                <a:spcPct val="200000"/>
              </a:lnSpc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</a:rPr>
              <a:t>Create an interactive platform to make learning engaging and improve retention.</a:t>
            </a:r>
            <a:endParaRPr lang="en-US" altLang="en-GB" sz="1800" dirty="0">
              <a:solidFill>
                <a:schemeClr val="dk1"/>
              </a:solidFill>
            </a:endParaRPr>
          </a:p>
          <a:p>
            <a:pPr marL="0" lvl="8" indent="0" algn="just">
              <a:lnSpc>
                <a:spcPct val="200000"/>
              </a:lnSpc>
              <a:buClr>
                <a:schemeClr val="dk1"/>
              </a:buClr>
              <a:buSzPts val="3200"/>
              <a:buFont typeface="Arial" panose="020B0604020202020204" pitchFamily="34" charset="0"/>
              <a:buNone/>
            </a:pPr>
            <a:r>
              <a:rPr lang="en-GB" altLang="en-US" sz="2700" b="1" dirty="0">
                <a:solidFill>
                  <a:schemeClr val="dk1"/>
                </a:solidFill>
              </a:rPr>
              <a:t>   </a:t>
            </a:r>
            <a:r>
              <a:rPr lang="en-GB" altLang="en-US" sz="2700" b="1" u="sng" dirty="0">
                <a:solidFill>
                  <a:schemeClr val="dk1"/>
                </a:solidFill>
              </a:rPr>
              <a:t>Objective</a:t>
            </a:r>
            <a:endParaRPr lang="en-GB" altLang="en-US" sz="2700" b="1" u="sng" dirty="0">
              <a:solidFill>
                <a:schemeClr val="dk1"/>
              </a:solidFill>
            </a:endParaRPr>
          </a:p>
          <a:p>
            <a:pPr marL="457200" lvl="8" indent="-457200" algn="just">
              <a:lnSpc>
                <a:spcPct val="200000"/>
              </a:lnSpc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</a:rPr>
              <a:t>Develop an interactive web dashboard with animations and visual effects.</a:t>
            </a:r>
            <a:endParaRPr lang="en-US" altLang="en-GB" sz="1800" dirty="0">
              <a:solidFill>
                <a:schemeClr val="dk1"/>
              </a:solidFill>
            </a:endParaRPr>
          </a:p>
          <a:p>
            <a:pPr marL="457200" lvl="8" indent="-457200" algn="just">
              <a:lnSpc>
                <a:spcPct val="200000"/>
              </a:lnSpc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</a:rPr>
              <a:t>Provide customizable features like background music to enhance study</a:t>
            </a:r>
            <a:r>
              <a:rPr lang="" altLang="en-US" sz="1800" dirty="0">
                <a:solidFill>
                  <a:schemeClr val="dk1"/>
                </a:solidFill>
              </a:rPr>
              <a:t> </a:t>
            </a:r>
            <a:r>
              <a:rPr lang="en-US" altLang="en-GB" sz="1800" dirty="0">
                <a:solidFill>
                  <a:schemeClr val="dk1"/>
                </a:solidFill>
              </a:rPr>
              <a:t>experience</a:t>
            </a:r>
            <a:endParaRPr lang="en-US" altLang="en-GB" sz="1800" dirty="0">
              <a:solidFill>
                <a:schemeClr val="dk1"/>
              </a:solidFill>
            </a:endParaRPr>
          </a:p>
          <a:p>
            <a:pPr marL="457200" lvl="8" indent="-457200" algn="just">
              <a:lnSpc>
                <a:spcPct val="200000"/>
              </a:lnSpc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endParaRPr lang="en-US" altLang="en-GB" sz="2900" b="1" dirty="0">
              <a:solidFill>
                <a:schemeClr val="dk1"/>
              </a:solidFill>
            </a:endParaRPr>
          </a:p>
          <a:p>
            <a:pPr marL="457200" lvl="8" indent="-457200" algn="just">
              <a:lnSpc>
                <a:spcPct val="200000"/>
              </a:lnSpc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endParaRPr lang="en-US" altLang="en-GB" sz="2900" b="1" dirty="0">
              <a:solidFill>
                <a:schemeClr val="dk1"/>
              </a:solidFill>
            </a:endParaRPr>
          </a:p>
          <a:p>
            <a:pPr marL="3943350" marR="0" lvl="8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Shri Sai Shikshan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Survey No.13/2, Mahurzari, Near Fetri, Katol Road, Nagpur-441501</a:t>
            </a:r>
            <a:endParaRPr dirty="0"/>
          </a:p>
        </p:txBody>
      </p:sp>
      <p:sp>
        <p:nvSpPr>
          <p:cNvPr id="114" name="Google Shape;114;p3"/>
          <p:cNvSpPr txBox="1"/>
          <p:nvPr/>
        </p:nvSpPr>
        <p:spPr>
          <a:xfrm>
            <a:off x="499533" y="1176385"/>
            <a:ext cx="7199312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2675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5"/>
              <a:buFont typeface="Calibri" panose="020F0502020204030204"/>
              <a:buNone/>
            </a:pPr>
            <a:r>
              <a:rPr lang="en-GB" sz="2700" b="1" u="sng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Brief Recap of Work (Seminar - 1)</a:t>
            </a:r>
            <a:endParaRPr lang="en-GB" sz="2700" b="1" u="sng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/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3"/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381000" y="1803400"/>
            <a:ext cx="8453120" cy="386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</a:rPr>
              <a:t>Designed the entire UI using HTML for structure and layout clarity.</a:t>
            </a:r>
            <a:endParaRPr lang="en-US" altLang="en-GB" sz="1800" dirty="0">
              <a:solidFill>
                <a:schemeClr val="dk1"/>
              </a:solidFill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</a:rPr>
              <a:t>Styled with Tailwind CSS, ensuring a modern, responsive, and visually appealing design.</a:t>
            </a:r>
            <a:endParaRPr lang="en-US" altLang="en-GB" sz="1800" dirty="0">
              <a:solidFill>
                <a:schemeClr val="dk1"/>
              </a:solidFill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</a:rPr>
              <a:t>Implemented JavaScript for interactivity — handling user input, API calls, and dynamic content updates.</a:t>
            </a:r>
            <a:endParaRPr lang="en-US" altLang="en-GB" sz="1800" dirty="0">
              <a:solidFill>
                <a:schemeClr val="dk1"/>
              </a:solidFill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</a:rPr>
              <a:t>Added animated themes and color transitions that change based on the selected story or learning mode.</a:t>
            </a:r>
            <a:endParaRPr lang="en-US" altLang="en-GB"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Shri Sai Shikshan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Survey No.13/2, Mahurzari, Near Fetri, Katol Road, Nagpur-441501</a:t>
            </a:r>
            <a:endParaRPr dirty="0"/>
          </a:p>
        </p:txBody>
      </p:sp>
      <p:sp>
        <p:nvSpPr>
          <p:cNvPr id="114" name="Google Shape;114;p3"/>
          <p:cNvSpPr txBox="1"/>
          <p:nvPr/>
        </p:nvSpPr>
        <p:spPr>
          <a:xfrm>
            <a:off x="533400" y="1218980"/>
            <a:ext cx="7199312" cy="62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2675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5"/>
              <a:buFont typeface="Calibri" panose="020F0502020204030204"/>
              <a:buNone/>
            </a:pPr>
            <a:r>
              <a:rPr lang="en-GB" sz="2700" b="1" u="sng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Current Progress</a:t>
            </a:r>
            <a:endParaRPr lang="en-GB" sz="2700" b="1" u="sng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/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3"/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3400" y="1845945"/>
            <a:ext cx="8458200" cy="3190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/>
              <a:t> </a:t>
            </a:r>
            <a:r>
              <a:rPr lang="en-US" altLang="en-GB" sz="1700" dirty="0"/>
              <a:t>Backend developed with Django, managing API requests and routing between frontend and AI engine.</a:t>
            </a:r>
            <a:endParaRPr lang="en-US" altLang="en-GB" sz="17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700" dirty="0"/>
              <a:t>Created and configured Django server to handle API requests and serve AI-generated responses efficiently.</a:t>
            </a:r>
            <a:endParaRPr lang="en-US" altLang="en-GB" sz="17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700" dirty="0"/>
              <a:t>Integrated Google Gemini API to generate smart, context-aware responses for user queries.</a:t>
            </a:r>
            <a:endParaRPr lang="en-IN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Shri Sai Shikshan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Survey No.13/2, Mahurzari, Near Fetri, Katol Road, Nagpur-441501</a:t>
            </a:r>
            <a:endParaRPr dirty="0"/>
          </a:p>
        </p:txBody>
      </p:sp>
      <p:sp>
        <p:nvSpPr>
          <p:cNvPr id="114" name="Google Shape;114;p3"/>
          <p:cNvSpPr txBox="1"/>
          <p:nvPr/>
        </p:nvSpPr>
        <p:spPr>
          <a:xfrm>
            <a:off x="480060" y="1154421"/>
            <a:ext cx="7199312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2675" rIns="91425" bIns="45700" anchor="ctr" anchorCtr="0">
            <a:normAutofit fontScale="7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5"/>
              <a:buFont typeface="Calibri" panose="020F0502020204030204"/>
              <a:buNone/>
            </a:pPr>
            <a:r>
              <a:rPr lang="en-GB" sz="3300" b="1" u="sng" dirty="0">
                <a:sym typeface="+mn-ea"/>
              </a:rPr>
              <a:t>System Design and Screenshots</a:t>
            </a:r>
            <a:endParaRPr sz="3300" b="1" u="sng"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5"/>
              <a:buFont typeface="Calibri" panose="020F0502020204030204"/>
              <a:buNone/>
            </a:pPr>
            <a:r>
              <a:rPr lang="en-GB" sz="3300" b="1" u="sng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GB" sz="3300" b="1" u="sng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/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3"/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533399" y="3721725"/>
            <a:ext cx="8161867" cy="64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+mj-lt"/>
              <a:buNone/>
            </a:pPr>
            <a:r>
              <a:rPr lang="en-IN" sz="1800" dirty="0">
                <a:solidFill>
                  <a:schemeClr val="dk1"/>
                </a:solidFill>
              </a:rPr>
              <a:t> </a:t>
            </a:r>
            <a:endParaRPr lang="en-IN"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Picture 2" descr="Screenshot (150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10" y="1773555"/>
            <a:ext cx="8780145" cy="4643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Shri Sai Shikshan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Survey No.13/2, Mahurzari, Near Fetri, Katol Road, Nagpur-441501</a:t>
            </a:r>
            <a:endParaRPr dirty="0"/>
          </a:p>
        </p:txBody>
      </p:sp>
      <p:sp>
        <p:nvSpPr>
          <p:cNvPr id="114" name="Google Shape;114;p3"/>
          <p:cNvSpPr txBox="1"/>
          <p:nvPr/>
        </p:nvSpPr>
        <p:spPr>
          <a:xfrm>
            <a:off x="533400" y="1173362"/>
            <a:ext cx="7199312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2675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5"/>
              <a:buFont typeface="Calibri" panose="020F0502020204030204"/>
              <a:buNone/>
            </a:pPr>
            <a:r>
              <a:rPr lang="en-GB" sz="2700" b="1" u="sng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Testing and Result</a:t>
            </a:r>
            <a:r>
              <a:rPr lang="en-GB" sz="3300" b="1" u="sng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GB" sz="3300" b="1" u="sng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/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3"/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533400" y="2056534"/>
            <a:ext cx="7620000" cy="258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</a:rPr>
              <a:t>Successfully tested the Django server and verified smooth communication between frontend and backend</a:t>
            </a:r>
            <a:r>
              <a:rPr lang="en-GB" altLang="en-US" sz="1800" dirty="0">
                <a:solidFill>
                  <a:schemeClr val="dk1"/>
                </a:solidFill>
              </a:rPr>
              <a:t>.</a:t>
            </a:r>
            <a:endParaRPr lang="en-GB" altLang="en-US" sz="1800" dirty="0">
              <a:solidFill>
                <a:schemeClr val="dk1"/>
              </a:solidFill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API responses from Gemini integrated and displayed instantly on the webpage without reload or delay.</a:t>
            </a:r>
            <a:endParaRPr lang="en-US" altLang="en-GB"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Search and response system works efficiently — users can enter queries and get accurate AI-generated outputs.</a:t>
            </a:r>
            <a:endParaRPr lang="en-US" altLang="en-GB"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Shri Sai Shikshan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Survey No.13/2, Mahurzari, Near Fetri, Katol Road, Nagpur-441501</a:t>
            </a:r>
            <a:endParaRPr dirty="0"/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/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3"/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3080" y="1258570"/>
            <a:ext cx="834707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400" b="1" u="sng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Challenges faced and Solutions implemented</a:t>
            </a:r>
            <a:r>
              <a:rPr lang="en-GB" altLang="en-US" sz="24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 </a:t>
            </a:r>
            <a:endParaRPr lang="en-GB" altLang="en-US" sz="24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endParaRPr lang="en-GB" altLang="en-US" sz="24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AI responses were not displaying inside the result div</a:t>
            </a:r>
            <a:endParaRPr lang="en-US" altLang="en-GB" sz="18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18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Search bar and result section overlapping due to CSS positioning issues</a:t>
            </a:r>
            <a:endParaRPr lang="en-US" altLang="en-GB" sz="18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18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Gemini API not responding due to environment variable setup issues.</a:t>
            </a:r>
            <a:endParaRPr lang="en-US" altLang="en-GB" sz="18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18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Fixed DOM selection and updated JavaScript to correctly target and insert the response dynamically.</a:t>
            </a:r>
            <a:endParaRPr lang="en-US" altLang="en-GB" sz="18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18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Adjusted Tailwind CSS layout with proper spacing (margin, padding, flex, z-index) for clear separation.</a:t>
            </a:r>
            <a:endParaRPr lang="en-US" altLang="en-GB" sz="18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18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Used .env file and</a:t>
            </a:r>
            <a:r>
              <a:rPr lang="en-GB" altLang="en-US" sz="18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 </a:t>
            </a:r>
            <a:r>
              <a:rPr lang="en-US" altLang="en-GB" sz="18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or secure key access and proper API authentication.</a:t>
            </a:r>
            <a:endParaRPr lang="en-US" altLang="en-GB" sz="18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endParaRPr lang="en-US" altLang="en-GB" sz="1800" b="1" u="sng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Shri Sai Shikshan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Survey No.13/2, Mahurzari, Near Fetri, Katol Road, Nagpur-441501</a:t>
            </a:r>
            <a:endParaRPr dirty="0"/>
          </a:p>
        </p:txBody>
      </p:sp>
      <p:sp>
        <p:nvSpPr>
          <p:cNvPr id="114" name="Google Shape;114;p3"/>
          <p:cNvSpPr txBox="1"/>
          <p:nvPr/>
        </p:nvSpPr>
        <p:spPr>
          <a:xfrm>
            <a:off x="533400" y="1218980"/>
            <a:ext cx="7199312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2675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5"/>
              <a:buFont typeface="Calibri" panose="020F0502020204030204"/>
              <a:buNone/>
            </a:pPr>
            <a:r>
              <a:rPr lang="en-GB" sz="3300" b="1" u="sng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Remaining Work</a:t>
            </a:r>
            <a:endParaRPr lang="en-GB" sz="3300" b="1" u="sng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/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3"/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533400" y="1712705"/>
            <a:ext cx="8001000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Implement AI learning modes – extend the response system to generate Stories, Flashcards, and MCQs dynamically.</a:t>
            </a:r>
            <a:endParaRPr lang="en-US" altLang="en-GB"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Design separate UI sections for each mode (story view, flashcard view, quiz view) with unique themes and animations</a:t>
            </a:r>
            <a:endParaRPr lang="en-US" altLang="en-GB"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MCQ Mode: Generates quiz-style questions for self-assessment.</a:t>
            </a:r>
            <a:endParaRPr lang="en-US" altLang="en-GB"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Flashcard Mode: Displays key terms and definitions for quick revision.</a:t>
            </a:r>
            <a:endParaRPr lang="en-US" altLang="en-GB"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Shri Sai Shikshan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Survey No.13/2, Mahurzari, Near Fetri, Katol Road, Nagpur-441501</a:t>
            </a:r>
            <a:endParaRPr dirty="0"/>
          </a:p>
        </p:txBody>
      </p:sp>
      <p:sp>
        <p:nvSpPr>
          <p:cNvPr id="114" name="Google Shape;114;p3"/>
          <p:cNvSpPr txBox="1"/>
          <p:nvPr/>
        </p:nvSpPr>
        <p:spPr>
          <a:xfrm>
            <a:off x="533400" y="1218980"/>
            <a:ext cx="7199312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2675" rIns="91425" bIns="45700" anchor="ctr" anchorCtr="0">
            <a:normAutofit fontScale="7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5"/>
              <a:buFont typeface="Calibri" panose="020F0502020204030204"/>
              <a:buNone/>
            </a:pPr>
            <a:r>
              <a:rPr lang="en-GB" altLang="en-US" sz="3300" b="1" u="sng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Budget Utilization  and Resource requirements</a:t>
            </a:r>
            <a:endParaRPr sz="3300" b="1" u="sng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/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3"/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3400" y="1939925"/>
            <a:ext cx="832866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GB" sz="1800" dirty="0"/>
              <a:t>AI API (Google Gemini) – cost depends on usage volume; essential for AI-generated responses, stories, flashcards, and MCQs.</a:t>
            </a:r>
            <a:endParaRPr lang="en-US" altLang="en-GB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GB" sz="1800" dirty="0"/>
              <a:t>Development Tools &amp; Libraries – mostly free/open-source (VS Code, PyCharm Community Edition, Tailwind CSS, Django, JavaScript).</a:t>
            </a:r>
            <a:endParaRPr lang="en-US" altLang="en-GB" sz="1800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altLang="en-GB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Shri Sai Shikshan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Survey No.13/2, Mahurzari, Near Fetri, Katol Road, Nagpur-441501</a:t>
            </a:r>
            <a:endParaRPr dirty="0"/>
          </a:p>
        </p:txBody>
      </p:sp>
      <p:sp>
        <p:nvSpPr>
          <p:cNvPr id="114" name="Google Shape;114;p3"/>
          <p:cNvSpPr txBox="1"/>
          <p:nvPr/>
        </p:nvSpPr>
        <p:spPr>
          <a:xfrm>
            <a:off x="533400" y="1218980"/>
            <a:ext cx="7199312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2675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5"/>
              <a:buFont typeface="Calibri" panose="020F0502020204030204"/>
              <a:buNone/>
            </a:pPr>
            <a:r>
              <a:rPr lang="en-GB" sz="3300" b="1" u="sng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Conclusion and Future Scope </a:t>
            </a:r>
            <a:endParaRPr lang="en-GB" sz="3300" b="1" u="sng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/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3"/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533400" y="2564073"/>
            <a:ext cx="8077200" cy="28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SmartLearn provides an interactive AI-powered learning platform with dynamic themes and responsive UI.</a:t>
            </a:r>
            <a:r>
              <a:rPr lang="en-IN" sz="18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IN"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Successfully integrated Django backend, Google Gemini API, and frontend (HTML, Tailwind CSS, JS).</a:t>
            </a:r>
            <a:endParaRPr lang="en-US" altLang="en-GB"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Current system supports real-time AI responses, smooth user experience, and multiple story-based themes.</a:t>
            </a:r>
            <a:endParaRPr lang="en-US" altLang="en-GB"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Expand Learning Modes: Implement Stories, Flashcards, and MCQs for versatile learning.</a:t>
            </a:r>
            <a:endParaRPr lang="en-US" altLang="en-GB"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User Profiles &amp; Progress Tracking: Allow login, save history, and track learning progress.</a:t>
            </a:r>
            <a:endParaRPr lang="en-US" altLang="en-GB"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49264" y="461963"/>
            <a:ext cx="2274072" cy="220503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9"/>
          <p:cNvSpPr/>
          <p:nvPr/>
        </p:nvSpPr>
        <p:spPr>
          <a:xfrm>
            <a:off x="1926150" y="3017520"/>
            <a:ext cx="5291705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dirty="0">
                <a:solidFill>
                  <a:srgbClr val="F7CAA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THANK YOU</a:t>
            </a:r>
            <a:endParaRPr dirty="0"/>
          </a:p>
        </p:txBody>
      </p:sp>
      <p:sp>
        <p:nvSpPr>
          <p:cNvPr id="184" name="Google Shape;184;p9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CSE, NIT, Nagpur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5988</Words>
  <Application>WPS Presentation</Application>
  <PresentationFormat>On-screen Show (4:3)</PresentationFormat>
  <Paragraphs>195</Paragraphs>
  <Slides>12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Times New Roman</vt:lpstr>
      <vt:lpstr>Arial Black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aditya</dc:creator>
  <cp:lastModifiedBy>13 FY - ARTS A - Bhumika Paray</cp:lastModifiedBy>
  <cp:revision>30</cp:revision>
  <dcterms:created xsi:type="dcterms:W3CDTF">2006-08-16T00:00:00Z</dcterms:created>
  <dcterms:modified xsi:type="dcterms:W3CDTF">2025-10-10T03:58:49Z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4FCED963FBAA45A5BD19056300DDB2F5_12</vt:lpwstr>
  </property>
  <property fmtid="{D5CDD505-2E9C-101B-9397-08002B2CF9AE}" pid="3" name="KSOProductBuildVer">
    <vt:lpwstr>2057-12.2.0.22549</vt:lpwstr>
  </property>
</Properties>
</file>